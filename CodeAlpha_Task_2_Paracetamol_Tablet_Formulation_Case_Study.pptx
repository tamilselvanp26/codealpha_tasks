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66B0"/>
                </a:solidFill>
                <a:latin typeface="Aptos"/>
              </a:rPr>
              <a:t>CODEALPHA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PHARMACEUTICAL RESEARCH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63153"/>
                </a:solidFill>
                <a:latin typeface="Aptos"/>
              </a:rPr>
              <a:t>CASE STUDY – DRUG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766B0"/>
                </a:solidFill>
                <a:latin typeface="Aptos"/>
              </a:rPr>
              <a:t>Paracetamol 500 mg Immediate-Release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Formulation process • Excipients • Stability • Manufacturing challenges</a:t>
            </a:r>
          </a:p>
        </p:txBody>
      </p:sp>
      <p:sp>
        <p:nvSpPr>
          <p:cNvPr id="9" name="Oval 8"/>
          <p:cNvSpPr/>
          <p:nvPr/>
        </p:nvSpPr>
        <p:spPr>
          <a:xfrm>
            <a:off x="8961120" y="4160520"/>
            <a:ext cx="868680" cy="868680"/>
          </a:xfrm>
          <a:prstGeom prst="ellipse">
            <a:avLst/>
          </a:prstGeom>
          <a:solidFill>
            <a:srgbClr val="2766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5712" y="445312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500</a:t>
            </a:r>
          </a:p>
        </p:txBody>
      </p:sp>
      <p:sp>
        <p:nvSpPr>
          <p:cNvPr id="11" name="Oval 10"/>
          <p:cNvSpPr/>
          <p:nvPr/>
        </p:nvSpPr>
        <p:spPr>
          <a:xfrm>
            <a:off x="9738360" y="3886200"/>
            <a:ext cx="868680" cy="868680"/>
          </a:xfrm>
          <a:prstGeom prst="ellipse">
            <a:avLst/>
          </a:prstGeom>
          <a:solidFill>
            <a:srgbClr val="00857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2952" y="417880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500</a:t>
            </a:r>
          </a:p>
        </p:txBody>
      </p:sp>
      <p:sp>
        <p:nvSpPr>
          <p:cNvPr id="13" name="Oval 12"/>
          <p:cNvSpPr/>
          <p:nvPr/>
        </p:nvSpPr>
        <p:spPr>
          <a:xfrm>
            <a:off x="10469880" y="4343400"/>
            <a:ext cx="868680" cy="868680"/>
          </a:xfrm>
          <a:prstGeom prst="ellipse">
            <a:avLst/>
          </a:prstGeom>
          <a:solidFill>
            <a:srgbClr val="DD8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463600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Prepared by P. Tamilselvan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6E78"/>
                </a:solidFill>
                <a:latin typeface="Aptos"/>
              </a:rPr>
              <a:t>M.Pharm (Pharmaceutics)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1. Product Profile &amp; Formulation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28016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EF"/>
                </a:solidFill>
                <a:latin typeface="Aptos"/>
              </a:rPr>
              <a:t>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73152" cy="1417320"/>
          </a:xfrm>
          <a:prstGeom prst="rect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33856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153"/>
                </a:solidFill>
                <a:latin typeface="Aptos"/>
              </a:rPr>
              <a:t>Dosage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508760"/>
            <a:ext cx="308152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A32"/>
                </a:solidFill>
                <a:latin typeface="Aptos"/>
              </a:rPr>
              <a:t>Immediate-release oral tablet
Representative 500 mg 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0584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05840"/>
            <a:ext cx="73152" cy="1417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133856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153"/>
                </a:solidFill>
                <a:latin typeface="Aptos"/>
              </a:rPr>
              <a:t>Active pharmaceutical ingredient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508760"/>
            <a:ext cx="308152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A32"/>
                </a:solidFill>
                <a:latin typeface="Aptos"/>
              </a:rPr>
              <a:t>Paracetamol (acetaminophen)
Analgesic + antipyretic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00584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005840"/>
            <a:ext cx="73152" cy="1417320"/>
          </a:xfrm>
          <a:prstGeom prst="rect">
            <a:avLst/>
          </a:prstGeom>
          <a:solidFill>
            <a:srgbClr val="DD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133856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153"/>
                </a:solidFill>
                <a:latin typeface="Aptos"/>
              </a:rPr>
              <a:t>Target product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508760"/>
            <a:ext cx="308152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A32"/>
                </a:solidFill>
                <a:latin typeface="Aptos"/>
              </a:rPr>
              <a:t>Accurate dose • robust tablet
Rapid disintegration • reproducible dissolution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4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3153"/>
                </a:solidFill>
                <a:latin typeface="Aptos"/>
              </a:rPr>
              <a:t>Why this formulation is challenging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5257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Paracetamol can present poor flow and compressibility, making powder handling and direct compression formulation more challenging.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The formulation must balance mechanical strength with rapid disintegration and dissolution.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Excipient selection and process control are therefore critical for content uniformity, tablet integrity and drug release.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3153"/>
                </a:solidFill>
                <a:latin typeface="Aptos"/>
              </a:rPr>
              <a:t>Case-study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46120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Representative academic formulation — exact commercial compositions vary by manufacturer.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Wet granulation is used here as the model manufacturing route.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Quality is assessed through physical, performance and stability attributes.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Representative Formulation &amp; Excipients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28016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EF"/>
                </a:solidFill>
                <a:latin typeface="Aptos"/>
              </a:rPr>
              <a:t>Formulation design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097280"/>
          <a:ext cx="10927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6172200"/>
              </a:tblGrid>
              <a:tr h="6270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631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Typical role</a:t>
                      </a:r>
                    </a:p>
                  </a:txBody>
                  <a:tcPr>
                    <a:solidFill>
                      <a:srgbClr val="1631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Why it is included</a:t>
                      </a:r>
                    </a:p>
                  </a:txBody>
                  <a:tcPr>
                    <a:solidFill>
                      <a:srgbClr val="16315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Paracetamol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API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Provides analgesic and antipyretic activity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Microcrystalline cellulose (MCC)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Diluent / compression aid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Improves bulk, compactibility and tablet formation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Povidone K30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Binder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Promotes granule formation and cohesion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Croscarmellose sodium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Superdisintegrant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Promotes rapid tablet breakup after administration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Colloidal silicon dioxide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Glidant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Improves powder/granule flow</a:t>
                      </a:r>
                    </a:p>
                  </a:txBody>
                  <a:tcPr marL="73152" marR="73152">
                    <a:solidFill>
                      <a:srgbClr val="F1F6F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Magnesium stearate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Lubricant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Reduces friction during compression and ejection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71500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Note: This is a representative formulation for an academic case study; excipient identity and quantity can differ across products and manufacturers.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3. Manufacturing Process – Wet Granulation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28016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EF"/>
                </a:solidFill>
                <a:latin typeface="Aptos"/>
              </a:rPr>
              <a:t>Process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554480"/>
            <a:ext cx="384048" cy="384048"/>
          </a:xfrm>
          <a:prstGeom prst="ellipse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58191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Dispensing
&amp; sieving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47288" y="1554480"/>
            <a:ext cx="384048" cy="384048"/>
          </a:xfrm>
          <a:prstGeom prst="ellipse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60934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158191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Dry mixing
API + diluent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41732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6207" y="1554480"/>
            <a:ext cx="384048" cy="384048"/>
          </a:xfrm>
          <a:prstGeom prst="ellipse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60934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158191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Binder solution
addition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141732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25127" y="1554480"/>
            <a:ext cx="384048" cy="384048"/>
          </a:xfrm>
          <a:prstGeom prst="ellipse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7" y="160934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7" y="158191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Wet massing
&amp; granulation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3794760"/>
            <a:ext cx="384048" cy="38404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496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822191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Drying &amp;
size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65760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47288" y="3794760"/>
            <a:ext cx="384048" cy="38404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7288" y="38496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7" y="3822191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Lubrication
&amp; blending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79" y="365760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36207" y="3794760"/>
            <a:ext cx="384048" cy="38404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7" y="38496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7" y="3822191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Compression
into tablets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399" y="3657600"/>
            <a:ext cx="214884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25127" y="3794760"/>
            <a:ext cx="384048" cy="38404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7" y="38496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7" y="3822191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153"/>
                </a:solidFill>
                <a:latin typeface="Aptos"/>
              </a:rPr>
              <a:t>Coating / packing
(if required)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807208" y="1984248"/>
            <a:ext cx="411480" cy="274320"/>
          </a:xfrm>
          <a:prstGeom prst="rightArrow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596128" y="1984248"/>
            <a:ext cx="411480" cy="274320"/>
          </a:xfrm>
          <a:prstGeom prst="rightArrow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8385047" y="1984248"/>
            <a:ext cx="411480" cy="274320"/>
          </a:xfrm>
          <a:prstGeom prst="rightArrow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2807208" y="4224528"/>
            <a:ext cx="411480" cy="274320"/>
          </a:xfrm>
          <a:prstGeom prst="rightArrow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5596128" y="4224528"/>
            <a:ext cx="411480" cy="274320"/>
          </a:xfrm>
          <a:prstGeom prst="rightArrow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8385047" y="4224528"/>
            <a:ext cx="411480" cy="274320"/>
          </a:xfrm>
          <a:prstGeom prst="rightArrow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63153"/>
                </a:solidFill>
                <a:latin typeface="Aptos"/>
              </a:rPr>
              <a:t>Critical process controls: granule moisture • granule size • blend uniformity • compression force • tablet weight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In-Process &amp; Finished-Product Quality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28016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EF"/>
                </a:solidFill>
                <a:latin typeface="Aptos"/>
              </a:rPr>
              <a:t>Quality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257800" cy="126187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261872"/>
          </a:xfrm>
          <a:prstGeom prst="rect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79576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Appearance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54480"/>
            <a:ext cx="4910328" cy="640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A32"/>
                </a:solidFill>
                <a:latin typeface="Aptos"/>
              </a:rPr>
              <a:t>No visible defects; consistent dimensions/finish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257800" cy="126187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73152" cy="1261872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179576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Weight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554480"/>
            <a:ext cx="4910328" cy="640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A32"/>
                </a:solidFill>
                <a:latin typeface="Aptos"/>
              </a:rPr>
              <a:t>Controls tablet-to-tablet mass consistency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24328"/>
            <a:ext cx="5257800" cy="126187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624328"/>
            <a:ext cx="73152" cy="1261872"/>
          </a:xfrm>
          <a:prstGeom prst="rect">
            <a:avLst/>
          </a:prstGeom>
          <a:solidFill>
            <a:srgbClr val="DD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752344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Hardness &amp; friability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127248"/>
            <a:ext cx="4910328" cy="640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A32"/>
                </a:solidFill>
                <a:latin typeface="Aptos"/>
              </a:rPr>
              <a:t>Confirms mechanical strength and resistance to abrasion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24328"/>
            <a:ext cx="5257800" cy="126187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624328"/>
            <a:ext cx="73152" cy="1261872"/>
          </a:xfrm>
          <a:prstGeom prst="rect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752344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Disintegration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127248"/>
            <a:ext cx="4910328" cy="640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A32"/>
                </a:solidFill>
                <a:latin typeface="Aptos"/>
              </a:rPr>
              <a:t>Confirms prompt breakup for an immediate-release 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97096"/>
            <a:ext cx="5257800" cy="126187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97096"/>
            <a:ext cx="73152" cy="1261872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32511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Dissolution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700016"/>
            <a:ext cx="4910328" cy="640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A32"/>
                </a:solidFill>
                <a:latin typeface="Aptos"/>
              </a:rPr>
              <a:t>Assesses the rate/extent of drug release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97096"/>
            <a:ext cx="5257800" cy="126187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197096"/>
            <a:ext cx="73152" cy="1261872"/>
          </a:xfrm>
          <a:prstGeom prst="rect">
            <a:avLst/>
          </a:prstGeom>
          <a:solidFill>
            <a:srgbClr val="DD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32511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Assay &amp; content uniformity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700016"/>
            <a:ext cx="4910328" cy="640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A32"/>
                </a:solidFill>
                <a:latin typeface="Aptos"/>
              </a:rPr>
              <a:t>Confirms identity, potency and dose consistency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63153"/>
                </a:solidFill>
                <a:latin typeface="Aptos"/>
              </a:rPr>
              <a:t>A robust formulation should meet predefined specifications throughout manufacturing and shelf life.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Stability Factors &amp;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28016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EF"/>
                </a:solidFill>
                <a:latin typeface="Aptos"/>
              </a:rPr>
              <a:t>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525780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73152" cy="1170432"/>
          </a:xfrm>
          <a:prstGeom prst="rect">
            <a:avLst/>
          </a:prstGeom>
          <a:solidFill>
            <a:srgbClr val="B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33856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08760"/>
            <a:ext cx="49103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32A32"/>
                </a:solidFill>
                <a:latin typeface="Aptos"/>
              </a:rPr>
              <a:t>Heat can accelerate chemical degradation and alter physical properties.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05840"/>
            <a:ext cx="525780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73152" cy="1170432"/>
          </a:xfrm>
          <a:prstGeom prst="rect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133856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Moisture / humidity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508760"/>
            <a:ext cx="49103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32A32"/>
                </a:solidFill>
                <a:latin typeface="Aptos"/>
              </a:rPr>
              <a:t>Can influence degradation, granule/tablet properties and dissolution.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525780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73152" cy="1170432"/>
          </a:xfrm>
          <a:prstGeom prst="rect">
            <a:avLst/>
          </a:prstGeom>
          <a:solidFill>
            <a:srgbClr val="DD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551176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2926080"/>
            <a:ext cx="49103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32A32"/>
                </a:solidFill>
                <a:latin typeface="Aptos"/>
              </a:rPr>
              <a:t>Photostability should be considered where the API/formulation is light-sensitive.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23160"/>
            <a:ext cx="525780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23160"/>
            <a:ext cx="73152" cy="1170432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551176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Oxygen / oxidation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926080"/>
            <a:ext cx="49103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32A32"/>
                </a:solidFill>
                <a:latin typeface="Aptos"/>
              </a:rPr>
              <a:t>Oxidative stress can contribute to impurity formation.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690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153"/>
                </a:solidFill>
                <a:latin typeface="Aptos"/>
              </a:rPr>
              <a:t>Stability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Monitor assay, degradation products, dissolution, appearance and relevant physical attributes over time.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ICH stability guidance evaluates how quality changes under environmental factors such as temperature, humidity and light.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Packaging should provide appropriate protection from moisture, light and handling conditions.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60520"/>
            <a:ext cx="2743200" cy="155448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3708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3153"/>
                </a:solidFill>
                <a:latin typeface="Aptos"/>
              </a:rPr>
              <a:t>Packaging 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0060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32A32"/>
                </a:solidFill>
                <a:latin typeface="Aptos"/>
              </a:rPr>
              <a:t>Blister pack
or moisture-protective bottle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Formulation &amp; Manufacturing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28016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EF"/>
                </a:solidFill>
                <a:latin typeface="Aptos"/>
              </a:rPr>
              <a:t>Risk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87552"/>
            <a:ext cx="5257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73152" cy="1234440"/>
          </a:xfrm>
          <a:prstGeom prst="rect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15568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Poor flow / compressibility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491032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May affect die filling and weight uniformity.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987552"/>
            <a:ext cx="5257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987552"/>
            <a:ext cx="73152" cy="123444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115568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Granulation variability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490472"/>
            <a:ext cx="491032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Moisture and granule size can change compressibility and dissolution.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23744"/>
            <a:ext cx="5257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23744"/>
            <a:ext cx="73152" cy="1234440"/>
          </a:xfrm>
          <a:prstGeom prst="rect">
            <a:avLst/>
          </a:prstGeom>
          <a:solidFill>
            <a:srgbClr val="DD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Sticking / picking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026663"/>
            <a:ext cx="491032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Can occur during compression and damage tablet surfaces.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523744"/>
            <a:ext cx="5257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523744"/>
            <a:ext cx="73152" cy="1234440"/>
          </a:xfrm>
          <a:prstGeom prst="rect">
            <a:avLst/>
          </a:prstGeom>
          <a:solidFill>
            <a:srgbClr val="B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651760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Over-lubrication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026663"/>
            <a:ext cx="491032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Excessive lubricant mixing can reduce tablet strength or slow wetting/dissolution.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59935"/>
            <a:ext cx="5257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59935"/>
            <a:ext cx="73152" cy="1234440"/>
          </a:xfrm>
          <a:prstGeom prst="rect">
            <a:avLst/>
          </a:prstGeom>
          <a:solidFill>
            <a:srgbClr val="27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187951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Content uniformity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562855"/>
            <a:ext cx="491032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API distribution must remain consistent across the batch.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059935"/>
            <a:ext cx="5257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059935"/>
            <a:ext cx="73152" cy="123444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187951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153"/>
                </a:solidFill>
                <a:latin typeface="Aptos"/>
              </a:rPr>
              <a:t>Dissolution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562855"/>
            <a:ext cx="491032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Formulation and process changes can alter drug-release behavior.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43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63153"/>
                </a:solidFill>
                <a:latin typeface="Aptos"/>
              </a:rPr>
              <a:t>Key principle: formulation development is an optimization exercise — improving one attribute can affect another.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Conclusion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28016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EF"/>
                </a:solidFill>
                <a:latin typeface="Aptos"/>
              </a:rPr>
              <a:t>Take-home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3153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166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420">
                <a:solidFill>
                  <a:srgbClr val="232A32"/>
                </a:solidFill>
                <a:latin typeface="Aptos"/>
              </a:defRPr>
            </a:pPr>
            <a:r>
              <a:t>Paracetamol immediate-release tablets illustrate how API properties, excipient functionality and process design must work together.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20">
                <a:solidFill>
                  <a:srgbClr val="232A32"/>
                </a:solidFill>
                <a:latin typeface="Aptos"/>
              </a:defRPr>
            </a:pPr>
            <a:r>
              <a:t>Wet granulation can improve powder flow and compressibility, but it introduces additional process variables such as binder addition, drying and granule-size control.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20">
                <a:solidFill>
                  <a:srgbClr val="232A32"/>
                </a:solidFill>
                <a:latin typeface="Aptos"/>
              </a:defRPr>
            </a:pPr>
            <a:r>
              <a:t>Stability and quality evaluation should cover chemical integrity, physical performance and dissolution throughout the product lifecycle.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960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3153"/>
                </a:solidFill>
                <a:latin typeface="Aptos"/>
              </a:rPr>
              <a:t>Selected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2588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080">
                <a:solidFill>
                  <a:srgbClr val="232A32"/>
                </a:solidFill>
                <a:latin typeface="Aptos"/>
              </a:defRPr>
            </a:pPr>
            <a:r>
              <a:t>1. EMA/ICH. ICH Q1A(R2): Stability Testing of New Drug Substances and Products.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080">
                <a:solidFill>
                  <a:srgbClr val="232A32"/>
                </a:solidFill>
                <a:latin typeface="Aptos"/>
              </a:defRPr>
            </a:pPr>
            <a:r>
              <a:t>2. FDA. Q1A(R2) Stability Testing of New Drug Substances and Products.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080">
                <a:solidFill>
                  <a:srgbClr val="232A32"/>
                </a:solidFill>
                <a:latin typeface="Aptos"/>
              </a:defRPr>
            </a:pPr>
            <a:r>
              <a:t>3. Arshady R. et al. Granulation techniques and technologies: recent progresses. Drug Design, Development and Therapy. 2015;9:4681–4696.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080">
                <a:solidFill>
                  <a:srgbClr val="232A32"/>
                </a:solidFill>
                <a:latin typeface="Aptos"/>
              </a:defRPr>
            </a:pPr>
            <a:r>
              <a:t>4. Study of formulation of pharmaceutical forms of paracetamol in medical practice. PubMed PMID: 21246913.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080">
                <a:solidFill>
                  <a:srgbClr val="232A32"/>
                </a:solidFill>
                <a:latin typeface="Aptos"/>
              </a:defRPr>
            </a:pPr>
            <a:r>
              <a:t>5. Todorović NB et al. Chemical Stability and Dissolution of Paracetamol Tablets Formulated by Direct Compression and Granulation Process. Acta Chim Slov. 2025; DOI: 10.17344/acsi.2025.9374.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074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8577"/>
                </a:solidFill>
                <a:latin typeface="Aptos"/>
              </a:rPr>
              <a:t>Sources consulted: FDA • EMA/ICH • PubMed • peer-reviewed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6E78"/>
                </a:solidFill>
                <a:latin typeface="Aptos"/>
              </a:rPr>
              <a:t>Prepared by P. Tamilselvan | CodeAlpha Pharmaceutical Research Internship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6E78"/>
                </a:solidFill>
                <a:latin typeface="Aptos"/>
              </a:rPr>
              <a:t>CodeAlpha Pharmaceutical Research Internship • Task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